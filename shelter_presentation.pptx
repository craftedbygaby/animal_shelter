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SXNjmf3bpEaCyZsKfDIK0GePn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0A0B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1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1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899998">
            <a:off x="242880" y="33379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40" y="267645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9A8A9"/>
                </a:solidFill>
                <a:latin typeface="Calibri"/>
                <a:ea typeface="Calibri"/>
                <a:cs typeface="Calibri"/>
                <a:sym typeface="Calibri"/>
              </a:rPr>
              <a:t>Austin Animal Center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816285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Database Project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08640" y="1920660"/>
            <a:ext cx="1097400" cy="5490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08640" y="20578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B5"/>
              </a:buClr>
              <a:buSzPts val="1400"/>
              <a:buFont typeface="Calibri"/>
              <a:buNone/>
            </a:pPr>
            <a:r>
              <a:rPr lang="en-US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Hina Haq</a:t>
            </a:r>
            <a:r>
              <a:rPr b="0" i="0" lang="en-US" sz="1400" u="none" cap="none" strike="noStrike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n-US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Gabriela Cascione</a:t>
            </a:r>
            <a:r>
              <a:rPr lang="en-US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 · Husseim Stuck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8640" y="25150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IronHack Data Analytics Bootcamp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" title="Gemini_Generated_Image_4f52334f52334f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4503" y="1710051"/>
            <a:ext cx="3348410" cy="32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960120"/>
            <a:ext cx="402336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Austin Animal Center Outcomes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173,775 records from 2013–present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Source: data.austintexas.gov (open data, no login required)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63440" y="960120"/>
            <a:ext cx="402336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46320" y="146304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What factors influence animal outcomes at the shelter?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Can we identify patterns to improve adoption rates and reduce time in shelter?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Hypotheses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H1: </a:t>
            </a: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Dogs and cats have significantly different adoption rates.  </a:t>
            </a:r>
            <a:r>
              <a:rPr b="1" lang="en-US" sz="12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H2: </a:t>
            </a: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Younger animals are adopted faster than older animals.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3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3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3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Data Acquisition, Enrichment &amp; Examination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20040" y="1005840"/>
            <a:ext cx="2651760" cy="54864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11480" y="10058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22960" y="10058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Source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169164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Austin Animal Center Outcomes CSV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Downloaded directly from Austin Open Data Portal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12 columns · 173,775 rows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46120" y="1005840"/>
            <a:ext cx="26517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46120" y="1005840"/>
            <a:ext cx="2651760" cy="54864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337560" y="10058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749040" y="10058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383280" y="169164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Mixed date formats and string-encoded ages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Null values in name, outcome_subtype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Breed names inconsistent across animal types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72200" y="1005840"/>
            <a:ext cx="26517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172200" y="1005840"/>
            <a:ext cx="2651760" cy="54864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263640" y="10058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675120" y="10058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Complementary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309360" y="169164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Austin Animal Center Intakes dataset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Allows linking intake date to outcome 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Same animal_id as primary key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4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4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4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4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4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Database Design &amp; Data Transformation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57200" y="960120"/>
            <a:ext cx="50292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57200" y="96012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C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5C5C6"/>
                </a:solidFill>
                <a:latin typeface="Calibri"/>
                <a:ea typeface="Calibri"/>
                <a:cs typeface="Calibri"/>
                <a:sym typeface="Calibri"/>
              </a:rPr>
              <a:t>[ Insert ERD Diagram Here 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669280" y="9601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669280" y="1444752"/>
            <a:ext cx="146304" cy="146304"/>
          </a:xfrm>
          <a:prstGeom prst="ellipse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943600" y="138988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age_upon_outcome stored as string — converted to numeric months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669280" y="2039112"/>
            <a:ext cx="146304" cy="146304"/>
          </a:xfrm>
          <a:prstGeom prst="ellipse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943600" y="198424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sex_upon_outcome combines status + sex — split into two fields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669280" y="2633472"/>
            <a:ext cx="146304" cy="146304"/>
          </a:xfrm>
          <a:prstGeom prst="ellipse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943600" y="257860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Breed names vary across animal types — kept at animal level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69280" y="3227832"/>
            <a:ext cx="146304" cy="146304"/>
          </a:xfrm>
          <a:prstGeom prst="ellipse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943600" y="317296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monthyear column redundant with datetime — dropped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669280" y="3822192"/>
            <a:ext cx="146304" cy="146304"/>
          </a:xfrm>
          <a:prstGeom prst="ellipse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943600" y="376732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Null names and outcome subtypes — handled with IS NULL checks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2500" y="960125"/>
            <a:ext cx="3477898" cy="356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9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9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9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9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9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9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Major Obstacle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457200" y="1005840"/>
            <a:ext cx="411480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457200" y="1005840"/>
            <a:ext cx="4114800" cy="50292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566928" y="1005840"/>
            <a:ext cx="389534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Obstacle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320200" y="1600200"/>
            <a:ext cx="42933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The dataset was large, with about 170K data points, which made loading into MySQL slower and more difficult.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 Data quality was low, so only about 4K rows could be loaded into SQL successfully.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 Pre-cleaning was necessary before import to fix issues like inconsistent formatting, missing values, and invalid records.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 The cleaning and preparation were done in Python using Jupyter Notebook before moving the data into SQL.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 Main troubleshooting focus was reducing errors during import by improving data quality first, rather than forcing the full raw dataset into the database.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754880" y="1005840"/>
            <a:ext cx="393192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D94A4D"/>
          </a:solidFill>
          <a:ln cap="flat" cmpd="sng" w="12700">
            <a:solidFill>
              <a:srgbClr val="D94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4864608" y="1005840"/>
            <a:ext cx="3712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892040" y="160020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It is important to clean the dataset before importing it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always checl parameters before and after import to see that all cells got </a:t>
            </a:r>
            <a:r>
              <a:rPr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transferred</a:t>
            </a:r>
            <a:endParaRPr sz="1200">
              <a:solidFill>
                <a:srgbClr val="2A0A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0A0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1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10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10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0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10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1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10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3200400" y="2148840"/>
            <a:ext cx="2743200" cy="54864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9A8A9"/>
                </a:solidFill>
                <a:latin typeface="Calibri"/>
                <a:ea typeface="Calibri"/>
                <a:cs typeface="Calibri"/>
                <a:sym typeface="Calibri"/>
              </a:rPr>
              <a:t>Austin Animal Center  ·  SQL Database Project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IronHack Data Analytics Bootcamp  · 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github.com/craftedbygaby/sql-database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786378" y="2766083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4B5"/>
              </a:buClr>
              <a:buSzPts val="1400"/>
              <a:buFont typeface="Calibri"/>
              <a:buNone/>
            </a:pPr>
            <a:r>
              <a:rPr lang="en-US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Hina Haq</a:t>
            </a:r>
            <a:r>
              <a:rPr b="0" i="0" lang="en-US" sz="1400" u="none" cap="none" strike="noStrike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n-US">
                <a:solidFill>
                  <a:srgbClr val="E8B4B5"/>
                </a:solidFill>
                <a:latin typeface="Calibri"/>
                <a:ea typeface="Calibri"/>
                <a:cs typeface="Calibri"/>
                <a:sym typeface="Calibri"/>
              </a:rPr>
              <a:t>Gabriela Cascione · Husseim Stuck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5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5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5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5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5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SQL Insights &amp; Advanced Analysis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457200" y="960120"/>
            <a:ext cx="109728" cy="182880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85800" y="10515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Insight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85800" y="13075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Outcome rates by animal type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85800" y="167335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Replace with your key finding from this query.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023360" y="1051560"/>
            <a:ext cx="4480560" cy="1600200"/>
          </a:xfrm>
          <a:prstGeom prst="rect">
            <a:avLst/>
          </a:prstGeom>
          <a:solidFill>
            <a:srgbClr val="2A0A0B"/>
          </a:solidFill>
          <a:ln cap="flat" cmpd="sng" w="12700">
            <a:solidFill>
              <a:srgbClr val="2A0A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114800" y="1097280"/>
            <a:ext cx="4297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SELECT animal_type, outcome_type,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COUNT(*) AS total,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RANK() OVER (PARTITION BY animal_type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  ORDER BY COUNT(*) DESC) AS rnk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FROM adoption_table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JOIN animal_type USING (type_id)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JOIN outcome USING (outcome_id)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GROUP BY animal_type, outcome_type;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57200" y="2971800"/>
            <a:ext cx="82296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57200" y="2971800"/>
            <a:ext cx="109728" cy="182880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85800" y="3063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5E61"/>
                </a:solidFill>
                <a:latin typeface="Calibri"/>
                <a:ea typeface="Calibri"/>
                <a:cs typeface="Calibri"/>
                <a:sym typeface="Calibri"/>
              </a:rPr>
              <a:t>Insight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85800" y="33192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Monthly adoption trends (window function)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85800" y="3685032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Replace with your key finding from this query.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023360" y="3063240"/>
            <a:ext cx="4480560" cy="1600200"/>
          </a:xfrm>
          <a:prstGeom prst="rect">
            <a:avLst/>
          </a:prstGeom>
          <a:solidFill>
            <a:srgbClr val="2A0A0B"/>
          </a:solidFill>
          <a:ln cap="flat" cmpd="sng" w="12700">
            <a:solidFill>
              <a:srgbClr val="2A0A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114800" y="3108960"/>
            <a:ext cx="42976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SELECT DATE_FORMAT(date_outcome, '%Y-%m') AS month,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COUNT(*) AS adoptions,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SUM(COUNT(*)) OVER (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  ORDER BY DATE_FORMAT(date_outcome,'%Y-%m')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  ) AS running_total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FROM adoption_table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JOIN outcome USING (outcome_id)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WHERE outcome_type = 'Adoption'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A9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9A8A9"/>
                </a:solidFill>
                <a:latin typeface="Consolas"/>
                <a:ea typeface="Consolas"/>
                <a:cs typeface="Consolas"/>
                <a:sym typeface="Consolas"/>
              </a:rPr>
              <a:t>GROUP BY month;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6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6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6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6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6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6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Visualisation &amp; Key Insights  ·  1 of 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457200" y="960120"/>
            <a:ext cx="502920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7200" y="96012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C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5C5C6"/>
                </a:solidFill>
                <a:latin typeface="Calibri"/>
                <a:ea typeface="Calibri"/>
                <a:cs typeface="Calibri"/>
                <a:sym typeface="Calibri"/>
              </a:rPr>
              <a:t>[ Chart 1: e.g. Outcomes by Animal Type 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7200" y="3429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Caption: Describe the insight this chart shows.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669280" y="960120"/>
            <a:ext cx="3017520" cy="310896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806440" y="1097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806440" y="1554480"/>
            <a:ext cx="2743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 this with your main takeaway from the visualisation.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5" name="Google Shape;215;p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7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7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7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7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7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7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Visualisation &amp; Key Insights  ·  2 of 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57200" y="960120"/>
            <a:ext cx="3931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7200" y="960120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C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C5C6"/>
                </a:solidFill>
                <a:latin typeface="Calibri"/>
                <a:ea typeface="Calibri"/>
                <a:cs typeface="Calibri"/>
                <a:sym typeface="Calibri"/>
              </a:rPr>
              <a:t>[ Chart 2 placeholder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Caption: describe insight here.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63440" y="960120"/>
            <a:ext cx="393192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663440" y="960120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5C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C5C6"/>
                </a:solidFill>
                <a:latin typeface="Calibri"/>
                <a:ea typeface="Calibri"/>
                <a:cs typeface="Calibri"/>
                <a:sym typeface="Calibri"/>
              </a:rPr>
              <a:t>[ Chart 3 placeholder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66344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06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A6060"/>
                </a:solidFill>
                <a:latin typeface="Calibri"/>
                <a:ea typeface="Calibri"/>
                <a:cs typeface="Calibri"/>
                <a:sym typeface="Calibri"/>
              </a:rPr>
              <a:t>Caption: describe insight here.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Overall pattern: Replace with a sentence connecting the two charts above to your hypotheses.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Google Shape;238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1500000">
            <a:off x="45720" y="45720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8"/>
          <p:cNvPicPr preferRelativeResize="0"/>
          <p:nvPr/>
        </p:nvPicPr>
        <p:blipFill rotWithShape="1">
          <a:blip r:embed="rId4">
            <a:alphaModFix amt="9000"/>
          </a:blip>
          <a:srcRect b="0" l="0" r="0" t="0"/>
          <a:stretch/>
        </p:blipFill>
        <p:spPr>
          <a:xfrm rot="1200000">
            <a:off x="8503920" y="13716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8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 rot="-900000">
            <a:off x="182880" y="4297680"/>
            <a:ext cx="32004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2100000">
            <a:off x="8412480" y="411480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8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 rot="600000">
            <a:off x="4297680" y="7315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8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300000">
            <a:off x="2011680" y="466344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8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 rot="900000">
            <a:off x="6858000" y="4617720"/>
            <a:ext cx="347472" cy="347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8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1800000">
            <a:off x="7406640" y="91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Conclusions &amp; Business Implications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365760" y="1005840"/>
            <a:ext cx="26517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F55E61"/>
          </a:solidFill>
          <a:ln cap="flat" cmpd="sng" w="12700">
            <a:solidFill>
              <a:srgbClr val="F55E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75488" y="1005840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 — Black cats are less adopted ? </a:t>
            </a: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🐈‍⬛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02920" y="160020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Did your data support or refute this hypothesis? Describe the outcome in 2–3 sentences.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246120" y="1005840"/>
            <a:ext cx="26517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solidFill>
            <a:srgbClr val="D94A4D"/>
          </a:solidFill>
          <a:ln cap="flat" cmpd="sng" w="12700">
            <a:solidFill>
              <a:srgbClr val="D94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355848" y="1005840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 — Age &amp; adoption speed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383280" y="160020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Did your data support or refute this hypothesis? Describe the outcome in 2–3 sentences.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126480" y="1005840"/>
            <a:ext cx="265176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5C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C73D40"/>
          </a:solidFill>
          <a:ln cap="flat" cmpd="sng" w="12700">
            <a:solidFill>
              <a:srgbClr val="C73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236208" y="1005840"/>
            <a:ext cx="24323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implications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263640" y="1600200"/>
            <a:ext cx="2377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0A0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A0A0B"/>
                </a:solidFill>
                <a:latin typeface="Calibri"/>
                <a:ea typeface="Calibri"/>
                <a:cs typeface="Calibri"/>
                <a:sym typeface="Calibri"/>
              </a:rPr>
              <a:t>What should the shelter actually do with these findings? 2–3 concrete recommendations.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2026-04-22T13:25:48Z</dcterms:created>
  <dc:creator>PptxGenJS</dc:creator>
</cp:coreProperties>
</file>